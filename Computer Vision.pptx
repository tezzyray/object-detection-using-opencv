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25" d="100"/>
          <a:sy n="125"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Monday, December 15, 2025</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47573600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fld id="{246CB39B-5F4C-4A7E-9BE3-AAFD45576D16}" type="datetime2">
              <a:rPr lang="en-US" smtClean="0"/>
              <a:t>Monday, December 15, 2025</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1840424556"/>
      </p:ext>
    </p:extLst>
  </p:cSld>
  <p:clrMap bg1="dk1" tx1="lt1" bg2="dk2" tx2="lt2" accent1="accent1" accent2="accent2" accent3="accent3" accent4="accent4" accent5="accent5" accent6="accent6" hlink="hlink" folHlink="folHlink"/>
  <p:sldLayoutIdLst>
    <p:sldLayoutId id="2147483668" r:id="rId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14">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B5CB17-3C15-4C3C-9428-157A8D9DF2F1}"/>
              </a:ext>
            </a:extLst>
          </p:cNvPr>
          <p:cNvSpPr>
            <a:spLocks noGrp="1"/>
          </p:cNvSpPr>
          <p:nvPr>
            <p:ph type="ctrTitle"/>
          </p:nvPr>
        </p:nvSpPr>
        <p:spPr>
          <a:xfrm>
            <a:off x="1487488" y="549275"/>
            <a:ext cx="5437187" cy="3456401"/>
          </a:xfrm>
        </p:spPr>
        <p:txBody>
          <a:bodyPr anchor="b">
            <a:normAutofit/>
          </a:bodyPr>
          <a:lstStyle/>
          <a:p>
            <a:pPr>
              <a:lnSpc>
                <a:spcPct val="90000"/>
              </a:lnSpc>
            </a:pPr>
            <a:r>
              <a:rPr lang="en-US" sz="5400"/>
              <a:t>Object Recognition and Classification of Video Data</a:t>
            </a:r>
            <a:endParaRPr lang="en-GB" sz="5400"/>
          </a:p>
        </p:txBody>
      </p:sp>
      <p:sp>
        <p:nvSpPr>
          <p:cNvPr id="3" name="Subtitle 2">
            <a:extLst>
              <a:ext uri="{FF2B5EF4-FFF2-40B4-BE49-F238E27FC236}">
                <a16:creationId xmlns:a16="http://schemas.microsoft.com/office/drawing/2014/main" id="{A29CB00A-C05F-4E7F-9579-016C2B81845D}"/>
              </a:ext>
            </a:extLst>
          </p:cNvPr>
          <p:cNvSpPr>
            <a:spLocks noGrp="1"/>
          </p:cNvSpPr>
          <p:nvPr>
            <p:ph type="subTitle" idx="1"/>
          </p:nvPr>
        </p:nvSpPr>
        <p:spPr>
          <a:xfrm>
            <a:off x="1487488" y="4297776"/>
            <a:ext cx="5437187" cy="2010949"/>
          </a:xfrm>
        </p:spPr>
        <p:txBody>
          <a:bodyPr>
            <a:normAutofit/>
          </a:bodyPr>
          <a:lstStyle/>
          <a:p>
            <a:r>
              <a:rPr lang="en-US" dirty="0">
                <a:solidFill>
                  <a:schemeClr val="tx1">
                    <a:alpha val="60000"/>
                  </a:schemeClr>
                </a:solidFill>
              </a:rPr>
              <a:t>BY: Olakunle Alabi</a:t>
            </a:r>
            <a:endParaRPr lang="en-GB" dirty="0">
              <a:solidFill>
                <a:schemeClr val="tx1">
                  <a:alpha val="60000"/>
                </a:schemeClr>
              </a:solidFill>
            </a:endParaRPr>
          </a:p>
        </p:txBody>
      </p:sp>
      <p:sp>
        <p:nvSpPr>
          <p:cNvPr id="34" name="Freeform: Shape 16">
            <a:extLst>
              <a:ext uri="{FF2B5EF4-FFF2-40B4-BE49-F238E27FC236}">
                <a16:creationId xmlns:a16="http://schemas.microsoft.com/office/drawing/2014/main" id="{74033C2F-EE38-427C-97E3-08EAC8822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1760"/>
            <a:ext cx="666497" cy="1080000"/>
          </a:xfrm>
          <a:custGeom>
            <a:avLst/>
            <a:gdLst>
              <a:gd name="connsiteX0" fmla="*/ 126497 w 666497"/>
              <a:gd name="connsiteY0" fmla="*/ 0 h 1080000"/>
              <a:gd name="connsiteX1" fmla="*/ 666497 w 666497"/>
              <a:gd name="connsiteY1" fmla="*/ 540000 h 1080000"/>
              <a:gd name="connsiteX2" fmla="*/ 126497 w 666497"/>
              <a:gd name="connsiteY2" fmla="*/ 1080000 h 1080000"/>
              <a:gd name="connsiteX3" fmla="*/ 17668 w 666497"/>
              <a:gd name="connsiteY3" fmla="*/ 1069029 h 1080000"/>
              <a:gd name="connsiteX4" fmla="*/ 0 w 666497"/>
              <a:gd name="connsiteY4" fmla="*/ 1063545 h 1080000"/>
              <a:gd name="connsiteX5" fmla="*/ 0 w 666497"/>
              <a:gd name="connsiteY5" fmla="*/ 16455 h 1080000"/>
              <a:gd name="connsiteX6" fmla="*/ 17668 w 666497"/>
              <a:gd name="connsiteY6" fmla="*/ 10971 h 1080000"/>
              <a:gd name="connsiteX7" fmla="*/ 126497 w 666497"/>
              <a:gd name="connsiteY7" fmla="*/ 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6497" h="1080000">
                <a:moveTo>
                  <a:pt x="126497" y="0"/>
                </a:moveTo>
                <a:cubicBezTo>
                  <a:pt x="424731" y="0"/>
                  <a:pt x="666497" y="241766"/>
                  <a:pt x="666497" y="540000"/>
                </a:cubicBezTo>
                <a:cubicBezTo>
                  <a:pt x="666497" y="838234"/>
                  <a:pt x="424731" y="1080000"/>
                  <a:pt x="126497" y="1080000"/>
                </a:cubicBezTo>
                <a:cubicBezTo>
                  <a:pt x="89218" y="1080000"/>
                  <a:pt x="52821" y="1076222"/>
                  <a:pt x="17668" y="1069029"/>
                </a:cubicBezTo>
                <a:lnTo>
                  <a:pt x="0" y="1063545"/>
                </a:lnTo>
                <a:lnTo>
                  <a:pt x="0" y="16455"/>
                </a:lnTo>
                <a:lnTo>
                  <a:pt x="17668" y="10971"/>
                </a:lnTo>
                <a:cubicBezTo>
                  <a:pt x="52821" y="3778"/>
                  <a:pt x="89218" y="0"/>
                  <a:pt x="126497" y="0"/>
                </a:cubicBezTo>
                <a:close/>
              </a:path>
            </a:pathLst>
          </a:cu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5" name="Group 18">
            <a:extLst>
              <a:ext uri="{FF2B5EF4-FFF2-40B4-BE49-F238E27FC236}">
                <a16:creationId xmlns:a16="http://schemas.microsoft.com/office/drawing/2014/main" id="{22940903-7865-4026-879C-CC1ADF9116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34337" y="800983"/>
            <a:ext cx="4006800" cy="3788841"/>
            <a:chOff x="7762003" y="672385"/>
            <a:chExt cx="4006800" cy="3788841"/>
          </a:xfrm>
        </p:grpSpPr>
        <p:sp>
          <p:nvSpPr>
            <p:cNvPr id="20" name="Freeform: Shape 19">
              <a:extLst>
                <a:ext uri="{FF2B5EF4-FFF2-40B4-BE49-F238E27FC236}">
                  <a16:creationId xmlns:a16="http://schemas.microsoft.com/office/drawing/2014/main" id="{982D1BD3-FFA8-4027-A890-672FDD8F70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8528803" y="672385"/>
              <a:ext cx="3240000" cy="3788841"/>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508000" dist="203200" dir="9600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20">
              <a:extLst>
                <a:ext uri="{FF2B5EF4-FFF2-40B4-BE49-F238E27FC236}">
                  <a16:creationId xmlns:a16="http://schemas.microsoft.com/office/drawing/2014/main" id="{7BC5C6D9-8420-4B6F-A949-7B6565266B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8572003" y="180004"/>
              <a:ext cx="1620000" cy="3240000"/>
            </a:xfrm>
            <a:prstGeom prst="ellipse">
              <a:avLst/>
            </a:prstGeom>
            <a:gradFill>
              <a:gsLst>
                <a:gs pos="100000">
                  <a:schemeClr val="bg2">
                    <a:lumMod val="90000"/>
                    <a:lumOff val="10000"/>
                  </a:schemeClr>
                </a:gs>
                <a:gs pos="50000">
                  <a:schemeClr val="bg2">
                    <a:lumMod val="90000"/>
                    <a:lumOff val="10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7" name="Group 22">
            <a:extLst>
              <a:ext uri="{FF2B5EF4-FFF2-40B4-BE49-F238E27FC236}">
                <a16:creationId xmlns:a16="http://schemas.microsoft.com/office/drawing/2014/main" id="{E82CFC28-5F56-4F2C-A953-AB57C1CE5C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4386" y="5149126"/>
            <a:ext cx="762805" cy="734873"/>
            <a:chOff x="7950336" y="1300590"/>
            <a:chExt cx="762805" cy="734873"/>
          </a:xfrm>
        </p:grpSpPr>
        <p:sp>
          <p:nvSpPr>
            <p:cNvPr id="24" name="Freeform 5">
              <a:extLst>
                <a:ext uri="{FF2B5EF4-FFF2-40B4-BE49-F238E27FC236}">
                  <a16:creationId xmlns:a16="http://schemas.microsoft.com/office/drawing/2014/main" id="{492EB854-02D8-4A9E-8BA5-5FEE21DD09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Freeform 6">
              <a:extLst>
                <a:ext uri="{FF2B5EF4-FFF2-40B4-BE49-F238E27FC236}">
                  <a16:creationId xmlns:a16="http://schemas.microsoft.com/office/drawing/2014/main" id="{A1676C39-91DD-4843-8315-4285BA1E7E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Freeform 8">
              <a:extLst>
                <a:ext uri="{FF2B5EF4-FFF2-40B4-BE49-F238E27FC236}">
                  <a16:creationId xmlns:a16="http://schemas.microsoft.com/office/drawing/2014/main" id="{B339FEEC-A688-4A3E-BA2C-8FC738A8AF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420468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165782" y="178825"/>
            <a:ext cx="11890229" cy="6573667"/>
          </a:xfrm>
        </p:spPr>
        <p:txBody>
          <a:bodyPr/>
          <a:lstStyle/>
          <a:p>
            <a:r>
              <a:rPr lang="en-US" dirty="0"/>
              <a:t>What is Object Recognition?</a:t>
            </a:r>
            <a:br>
              <a:rPr lang="en-US" dirty="0"/>
            </a:br>
            <a:r>
              <a:rPr lang="en-US" sz="4000" dirty="0">
                <a:latin typeface="Calibri" panose="020F0502020204030204" pitchFamily="34" charset="0"/>
                <a:cs typeface="Calibri" panose="020F0502020204030204" pitchFamily="34" charset="0"/>
              </a:rPr>
              <a:t>Object recognition is a computer technology that uses computer vision and image processing used to detect objects in images and videos.</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The technology behind Object recognition is called the “Artificial Intelligence”</a:t>
            </a:r>
            <a:endParaRPr lang="en-GB" dirty="0"/>
          </a:p>
        </p:txBody>
      </p:sp>
    </p:spTree>
    <p:extLst>
      <p:ext uri="{BB962C8B-B14F-4D97-AF65-F5344CB8AC3E}">
        <p14:creationId xmlns:p14="http://schemas.microsoft.com/office/powerpoint/2010/main" val="389730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165783" y="178825"/>
            <a:ext cx="11721417" cy="6545532"/>
          </a:xfrm>
        </p:spPr>
        <p:txBody>
          <a:bodyPr/>
          <a:lstStyle/>
          <a:p>
            <a:r>
              <a:rPr lang="en-US" dirty="0"/>
              <a:t>		Architecture of Object 				   </a:t>
            </a:r>
            <a:r>
              <a:rPr lang="en-US" dirty="0" err="1"/>
              <a:t>Recogntion</a:t>
            </a:r>
            <a:endParaRPr lang="en-GB" dirty="0"/>
          </a:p>
        </p:txBody>
      </p:sp>
      <p:sp>
        <p:nvSpPr>
          <p:cNvPr id="4" name="Rectangle: Rounded Corners 3">
            <a:extLst>
              <a:ext uri="{FF2B5EF4-FFF2-40B4-BE49-F238E27FC236}">
                <a16:creationId xmlns:a16="http://schemas.microsoft.com/office/drawing/2014/main" id="{7C54FB2A-90EB-43DD-8382-B20DF48B5B9F}"/>
              </a:ext>
            </a:extLst>
          </p:cNvPr>
          <p:cNvSpPr/>
          <p:nvPr/>
        </p:nvSpPr>
        <p:spPr>
          <a:xfrm>
            <a:off x="-7035" y="3140612"/>
            <a:ext cx="2665829" cy="16881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COLLECTED via Computer Vision</a:t>
            </a:r>
            <a:endParaRPr lang="en-GB" dirty="0"/>
          </a:p>
        </p:txBody>
      </p:sp>
      <p:sp>
        <p:nvSpPr>
          <p:cNvPr id="7" name="Rectangle: Rounded Corners 6">
            <a:extLst>
              <a:ext uri="{FF2B5EF4-FFF2-40B4-BE49-F238E27FC236}">
                <a16:creationId xmlns:a16="http://schemas.microsoft.com/office/drawing/2014/main" id="{856C2BBA-2EEC-46F0-81DE-896F63C1E557}"/>
              </a:ext>
            </a:extLst>
          </p:cNvPr>
          <p:cNvSpPr/>
          <p:nvPr/>
        </p:nvSpPr>
        <p:spPr>
          <a:xfrm>
            <a:off x="4496287" y="3140611"/>
            <a:ext cx="2551627" cy="1688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a:t>
            </a:r>
          </a:p>
          <a:p>
            <a:pPr algn="ctr"/>
            <a:r>
              <a:rPr lang="en-US" dirty="0"/>
              <a:t>Using Machine and Deep Learning Algorithms</a:t>
            </a:r>
            <a:endParaRPr lang="en-GB" dirty="0"/>
          </a:p>
        </p:txBody>
      </p:sp>
      <p:sp>
        <p:nvSpPr>
          <p:cNvPr id="8" name="Rectangle: Rounded Corners 7">
            <a:extLst>
              <a:ext uri="{FF2B5EF4-FFF2-40B4-BE49-F238E27FC236}">
                <a16:creationId xmlns:a16="http://schemas.microsoft.com/office/drawing/2014/main" id="{ED61A11E-8D92-42C9-B570-D28584F3596B}"/>
              </a:ext>
            </a:extLst>
          </p:cNvPr>
          <p:cNvSpPr/>
          <p:nvPr/>
        </p:nvSpPr>
        <p:spPr>
          <a:xfrm>
            <a:off x="8468751" y="3140611"/>
            <a:ext cx="2273102" cy="1688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 in form of Alert or Instructions</a:t>
            </a:r>
            <a:endParaRPr lang="en-GB" dirty="0"/>
          </a:p>
        </p:txBody>
      </p:sp>
      <p:cxnSp>
        <p:nvCxnSpPr>
          <p:cNvPr id="11" name="Straight Arrow Connector 10">
            <a:extLst>
              <a:ext uri="{FF2B5EF4-FFF2-40B4-BE49-F238E27FC236}">
                <a16:creationId xmlns:a16="http://schemas.microsoft.com/office/drawing/2014/main" id="{30C2D199-1217-46E8-8F8A-B086AB6EC539}"/>
              </a:ext>
            </a:extLst>
          </p:cNvPr>
          <p:cNvCxnSpPr>
            <a:cxnSpLocks/>
          </p:cNvCxnSpPr>
          <p:nvPr/>
        </p:nvCxnSpPr>
        <p:spPr>
          <a:xfrm>
            <a:off x="2658794" y="3994220"/>
            <a:ext cx="1837493" cy="351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AB84DF7F-CC6F-4108-B092-CEEE6E41818D}"/>
              </a:ext>
            </a:extLst>
          </p:cNvPr>
          <p:cNvCxnSpPr>
            <a:endCxn id="7" idx="1"/>
          </p:cNvCxnSpPr>
          <p:nvPr/>
        </p:nvCxnSpPr>
        <p:spPr>
          <a:xfrm>
            <a:off x="2658794" y="3984672"/>
            <a:ext cx="183749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C55942B-7FF3-47C4-9477-AFA45870734E}"/>
              </a:ext>
            </a:extLst>
          </p:cNvPr>
          <p:cNvCxnSpPr>
            <a:stCxn id="7" idx="3"/>
            <a:endCxn id="8" idx="1"/>
          </p:cNvCxnSpPr>
          <p:nvPr/>
        </p:nvCxnSpPr>
        <p:spPr>
          <a:xfrm>
            <a:off x="7047914" y="3984673"/>
            <a:ext cx="1420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96CB63-1C4F-4E0A-993F-B0C4DE3515A6}"/>
              </a:ext>
            </a:extLst>
          </p:cNvPr>
          <p:cNvSpPr txBox="1"/>
          <p:nvPr/>
        </p:nvSpPr>
        <p:spPr>
          <a:xfrm>
            <a:off x="4496287" y="2594904"/>
            <a:ext cx="2551627" cy="369332"/>
          </a:xfrm>
          <a:prstGeom prst="rect">
            <a:avLst/>
          </a:prstGeom>
          <a:noFill/>
        </p:spPr>
        <p:txBody>
          <a:bodyPr wrap="square" rtlCol="0">
            <a:spAutoFit/>
          </a:bodyPr>
          <a:lstStyle/>
          <a:p>
            <a:r>
              <a:rPr lang="en-US" dirty="0"/>
              <a:t>Image Processing Unit</a:t>
            </a:r>
            <a:endParaRPr lang="en-GB" dirty="0"/>
          </a:p>
        </p:txBody>
      </p:sp>
      <p:sp>
        <p:nvSpPr>
          <p:cNvPr id="17" name="TextBox 16">
            <a:extLst>
              <a:ext uri="{FF2B5EF4-FFF2-40B4-BE49-F238E27FC236}">
                <a16:creationId xmlns:a16="http://schemas.microsoft.com/office/drawing/2014/main" id="{6D7271AD-D3E5-4F48-B57B-F8DBE1760CC4}"/>
              </a:ext>
            </a:extLst>
          </p:cNvPr>
          <p:cNvSpPr txBox="1"/>
          <p:nvPr/>
        </p:nvSpPr>
        <p:spPr>
          <a:xfrm>
            <a:off x="548640" y="2730137"/>
            <a:ext cx="1541417" cy="369332"/>
          </a:xfrm>
          <a:prstGeom prst="rect">
            <a:avLst/>
          </a:prstGeom>
          <a:noFill/>
        </p:spPr>
        <p:txBody>
          <a:bodyPr wrap="square" rtlCol="0">
            <a:spAutoFit/>
          </a:bodyPr>
          <a:lstStyle/>
          <a:p>
            <a:r>
              <a:rPr lang="en-US" dirty="0"/>
              <a:t>Camera</a:t>
            </a:r>
            <a:endParaRPr lang="en-GB" dirty="0"/>
          </a:p>
        </p:txBody>
      </p:sp>
    </p:spTree>
    <p:extLst>
      <p:ext uri="{BB962C8B-B14F-4D97-AF65-F5344CB8AC3E}">
        <p14:creationId xmlns:p14="http://schemas.microsoft.com/office/powerpoint/2010/main" val="2186446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91440" y="117566"/>
            <a:ext cx="11978639" cy="6635931"/>
          </a:xfrm>
        </p:spPr>
        <p:txBody>
          <a:bodyPr/>
          <a:lstStyle/>
          <a:p>
            <a:r>
              <a:rPr lang="en-US" dirty="0">
                <a:latin typeface="Calibri" panose="020F0502020204030204" pitchFamily="34" charset="0"/>
                <a:cs typeface="Calibri" panose="020F0502020204030204" pitchFamily="34" charset="0"/>
              </a:rPr>
              <a:t>	Object recognition industrial 					    applications</a:t>
            </a:r>
            <a:br>
              <a:rPr lang="en-US" dirty="0">
                <a:latin typeface="Calibri" panose="020F0502020204030204" pitchFamily="34" charset="0"/>
                <a:cs typeface="Calibri" panose="020F0502020204030204" pitchFamily="34" charset="0"/>
              </a:rPr>
            </a:br>
            <a:r>
              <a:rPr lang="en-US" sz="4000" dirty="0" err="1">
                <a:latin typeface="Calibri" panose="020F0502020204030204" pitchFamily="34" charset="0"/>
                <a:cs typeface="Calibri" panose="020F0502020204030204" pitchFamily="34" charset="0"/>
              </a:rPr>
              <a:t>i</a:t>
            </a:r>
            <a:r>
              <a:rPr lang="en-US" sz="4000" dirty="0">
                <a:latin typeface="Calibri" panose="020F0502020204030204" pitchFamily="34" charset="0"/>
                <a:cs typeface="Calibri" panose="020F0502020204030204" pitchFamily="34" charset="0"/>
              </a:rPr>
              <a:t>. Security Surveillance Industry</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ii. Traffic Tracking systems</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iii. Advertising</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iv. Self-driving cars</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v. Activity Recognition</a:t>
            </a: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vi. Face Recognition on phones</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395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158749" y="128583"/>
            <a:ext cx="11924394" cy="6637977"/>
          </a:xfrm>
        </p:spPr>
        <p:txBody>
          <a:bodyPr>
            <a:normAutofit/>
          </a:bodyPr>
          <a:lstStyle/>
          <a:p>
            <a:r>
              <a:rPr lang="en-US" sz="4000" dirty="0">
                <a:latin typeface="Calibri" panose="020F0502020204030204" pitchFamily="34" charset="0"/>
                <a:cs typeface="Calibri" panose="020F0502020204030204" pitchFamily="34" charset="0"/>
              </a:rPr>
              <a:t>		Convolutional Neural Network</a:t>
            </a:r>
            <a:br>
              <a:rPr lang="en-US" sz="4000" dirty="0">
                <a:latin typeface="Calibri" panose="020F0502020204030204" pitchFamily="34" charset="0"/>
                <a:cs typeface="Calibri" panose="020F0502020204030204" pitchFamily="34" charset="0"/>
              </a:rPr>
            </a:br>
            <a:r>
              <a:rPr lang="en-US" sz="3200" dirty="0">
                <a:latin typeface="Calibri" panose="020F0502020204030204" pitchFamily="34" charset="0"/>
                <a:cs typeface="Calibri" panose="020F0502020204030204" pitchFamily="34" charset="0"/>
              </a:rPr>
              <a:t>These are special network that are specialized for image and video recognition, recommender systems and natural language processing (Handwriting recognition and speech recognition)</a:t>
            </a:r>
            <a:r>
              <a:rPr lang="en-US" sz="4000" dirty="0">
                <a:latin typeface="Calibri" panose="020F0502020204030204" pitchFamily="34" charset="0"/>
                <a:cs typeface="Calibri" panose="020F0502020204030204" pitchFamily="34" charset="0"/>
              </a:rPr>
              <a:t> </a:t>
            </a:r>
            <a:br>
              <a:rPr lang="en-US" sz="40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The main applications for CNN are as follows;</a:t>
            </a:r>
            <a:br>
              <a:rPr lang="en-US" sz="3600" dirty="0">
                <a:latin typeface="Calibri" panose="020F0502020204030204" pitchFamily="34" charset="0"/>
                <a:cs typeface="Calibri" panose="020F0502020204030204" pitchFamily="34" charset="0"/>
              </a:rPr>
            </a:br>
            <a:r>
              <a:rPr lang="en-US" sz="3600" dirty="0" err="1">
                <a:latin typeface="Calibri" panose="020F0502020204030204" pitchFamily="34" charset="0"/>
                <a:cs typeface="Calibri" panose="020F0502020204030204" pitchFamily="34" charset="0"/>
              </a:rPr>
              <a:t>i</a:t>
            </a:r>
            <a:r>
              <a:rPr lang="en-US" sz="3600" dirty="0">
                <a:latin typeface="Calibri" panose="020F0502020204030204" pitchFamily="34" charset="0"/>
                <a:cs typeface="Calibri" panose="020F0502020204030204" pitchFamily="34" charset="0"/>
              </a:rPr>
              <a:t>. Object detection and Recognition </a:t>
            </a: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ii. Segmentation</a:t>
            </a: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iii. Scene Classification </a:t>
            </a:r>
            <a:endParaRPr lang="en-GB" sz="4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3285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130629" y="117566"/>
            <a:ext cx="11952514" cy="6583680"/>
          </a:xfrm>
        </p:spPr>
        <p:txBody>
          <a:bodyPr>
            <a:normAutofit fontScale="90000"/>
          </a:bodyPr>
          <a:lstStyle/>
          <a:p>
            <a:r>
              <a:rPr lang="en-US" sz="3600" dirty="0">
                <a:latin typeface="Calibri" panose="020F0502020204030204" pitchFamily="34" charset="0"/>
                <a:cs typeface="Calibri" panose="020F0502020204030204" pitchFamily="34" charset="0"/>
              </a:rPr>
              <a:t>		YoloV3 CNN PRETRAINED MODEL</a:t>
            </a: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This model “You only look once” (Yolo) is a deep learning algorithm which came out in May 2016 and it is so fast compared with the other deep learning object detection models.</a:t>
            </a: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	www.pjreddie.com/darknet/yolo</a:t>
            </a:r>
            <a:endParaRPr lang="en-GB" sz="36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9B7B5AC-1BA8-4803-9D66-43F5FABE406E}"/>
              </a:ext>
            </a:extLst>
          </p:cNvPr>
          <p:cNvPicPr>
            <a:picLocks noChangeAspect="1"/>
          </p:cNvPicPr>
          <p:nvPr/>
        </p:nvPicPr>
        <p:blipFill>
          <a:blip r:embed="rId2"/>
          <a:stretch>
            <a:fillRect/>
          </a:stretch>
        </p:blipFill>
        <p:spPr>
          <a:xfrm>
            <a:off x="272121" y="2629234"/>
            <a:ext cx="4116999" cy="3314768"/>
          </a:xfrm>
          <a:prstGeom prst="rect">
            <a:avLst/>
          </a:prstGeom>
        </p:spPr>
      </p:pic>
    </p:spTree>
    <p:extLst>
      <p:ext uri="{BB962C8B-B14F-4D97-AF65-F5344CB8AC3E}">
        <p14:creationId xmlns:p14="http://schemas.microsoft.com/office/powerpoint/2010/main" val="175835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38B8-CA5B-4F1D-A5B5-E7CDB3C003E4}"/>
              </a:ext>
            </a:extLst>
          </p:cNvPr>
          <p:cNvSpPr>
            <a:spLocks noGrp="1"/>
          </p:cNvSpPr>
          <p:nvPr>
            <p:ph type="ctrTitle"/>
          </p:nvPr>
        </p:nvSpPr>
        <p:spPr>
          <a:xfrm>
            <a:off x="98474" y="112542"/>
            <a:ext cx="11957537" cy="6745458"/>
          </a:xfrm>
        </p:spPr>
        <p:txBody>
          <a:bodyPr>
            <a:normAutofit/>
          </a:bodyPr>
          <a:lstStyle/>
          <a:p>
            <a:r>
              <a:rPr lang="en-US" sz="4000" dirty="0"/>
              <a:t>In this project I used ;</a:t>
            </a:r>
            <a:br>
              <a:rPr lang="en-US" sz="4000" dirty="0"/>
            </a:br>
            <a:r>
              <a:rPr lang="en-US" sz="4000" dirty="0" err="1"/>
              <a:t>i</a:t>
            </a:r>
            <a:r>
              <a:rPr lang="en-US" sz="4000" dirty="0"/>
              <a:t>. Yolov3 pretrained model</a:t>
            </a:r>
            <a:br>
              <a:rPr lang="en-US" sz="4000" dirty="0"/>
            </a:br>
            <a:r>
              <a:rPr lang="en-US" sz="4000" dirty="0"/>
              <a:t>ii. OpenCV (Open Source Computer Vision library)</a:t>
            </a:r>
            <a:br>
              <a:rPr lang="en-US" sz="4000" dirty="0"/>
            </a:br>
            <a:br>
              <a:rPr lang="en-US" sz="4000" dirty="0"/>
            </a:br>
            <a:r>
              <a:rPr lang="en-US" sz="4000" dirty="0"/>
              <a:t>Yolo applies neural networks to the entire image to predict bounding boxes and their probabilities compared to other models which only applies their network to only high scoring regions on an image.</a:t>
            </a:r>
            <a:br>
              <a:rPr lang="en-US" sz="4000" dirty="0"/>
            </a:br>
            <a:r>
              <a:rPr lang="en-US" sz="4000" dirty="0"/>
              <a:t>It also scans images once to make predictions, so it makes it about four times faster in practice than other models.</a:t>
            </a:r>
            <a:endParaRPr lang="en-GB" sz="4000" dirty="0"/>
          </a:p>
        </p:txBody>
      </p:sp>
    </p:spTree>
    <p:extLst>
      <p:ext uri="{BB962C8B-B14F-4D97-AF65-F5344CB8AC3E}">
        <p14:creationId xmlns:p14="http://schemas.microsoft.com/office/powerpoint/2010/main" val="2492137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CEC2C-7F2B-43EA-A1A7-6723E9FF0C47}"/>
              </a:ext>
            </a:extLst>
          </p:cNvPr>
          <p:cNvSpPr>
            <a:spLocks noGrp="1"/>
          </p:cNvSpPr>
          <p:nvPr>
            <p:ph type="ctrTitle"/>
          </p:nvPr>
        </p:nvSpPr>
        <p:spPr>
          <a:xfrm>
            <a:off x="225083" y="196948"/>
            <a:ext cx="11521440" cy="6555544"/>
          </a:xfrm>
        </p:spPr>
        <p:txBody>
          <a:bodyPr>
            <a:normAutofit/>
          </a:bodyPr>
          <a:lstStyle/>
          <a:p>
            <a:r>
              <a:rPr lang="en-US" sz="4000" dirty="0"/>
              <a:t>What can Yolo be applied to;</a:t>
            </a:r>
            <a:br>
              <a:rPr lang="en-US" sz="4000" dirty="0"/>
            </a:br>
            <a:r>
              <a:rPr lang="en-US" sz="4000" dirty="0" err="1"/>
              <a:t>i</a:t>
            </a:r>
            <a:r>
              <a:rPr lang="en-US" sz="4000" dirty="0"/>
              <a:t>. Image file</a:t>
            </a:r>
            <a:br>
              <a:rPr lang="en-US" sz="4000" dirty="0"/>
            </a:br>
            <a:r>
              <a:rPr lang="en-US" sz="4000" dirty="0"/>
              <a:t>ii. Real-time video stream(Webcam)</a:t>
            </a:r>
            <a:br>
              <a:rPr lang="en-US" sz="4000" dirty="0"/>
            </a:br>
            <a:r>
              <a:rPr lang="en-US" sz="4000" dirty="0"/>
              <a:t>iii. </a:t>
            </a:r>
            <a:r>
              <a:rPr lang="en-US" sz="4000" dirty="0" err="1"/>
              <a:t>Presaved</a:t>
            </a:r>
            <a:r>
              <a:rPr lang="en-US" sz="4000" dirty="0"/>
              <a:t> Video file.</a:t>
            </a:r>
            <a:br>
              <a:rPr lang="en-US" sz="4000" dirty="0"/>
            </a:br>
            <a:br>
              <a:rPr lang="en-US" sz="4000" dirty="0"/>
            </a:br>
            <a:r>
              <a:rPr lang="en-US" sz="4000" dirty="0"/>
              <a:t>It can detect up to 80 objects, it has been pretrained to identify the 80 class labels of the coco dataset.</a:t>
            </a:r>
            <a:br>
              <a:rPr lang="en-US" sz="4000" dirty="0"/>
            </a:br>
            <a:r>
              <a:rPr lang="en-US" sz="4000" dirty="0" err="1"/>
              <a:t>i</a:t>
            </a:r>
            <a:r>
              <a:rPr lang="en-US" sz="4000" dirty="0"/>
              <a:t>. Person	iii. Car			v……..</a:t>
            </a:r>
            <a:br>
              <a:rPr lang="en-US" sz="4000" dirty="0"/>
            </a:br>
            <a:r>
              <a:rPr lang="en-US" sz="4000" dirty="0"/>
              <a:t>ii. Bicycle	iv. Motorbike</a:t>
            </a:r>
            <a:endParaRPr lang="en-GB" sz="4000" dirty="0"/>
          </a:p>
        </p:txBody>
      </p:sp>
    </p:spTree>
    <p:extLst>
      <p:ext uri="{BB962C8B-B14F-4D97-AF65-F5344CB8AC3E}">
        <p14:creationId xmlns:p14="http://schemas.microsoft.com/office/powerpoint/2010/main" val="4246239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1359-186A-4A6D-A2D8-9CE70110792B}"/>
              </a:ext>
            </a:extLst>
          </p:cNvPr>
          <p:cNvSpPr>
            <a:spLocks noGrp="1"/>
          </p:cNvSpPr>
          <p:nvPr>
            <p:ph type="ctrTitle"/>
          </p:nvPr>
        </p:nvSpPr>
        <p:spPr>
          <a:xfrm>
            <a:off x="168812" y="267286"/>
            <a:ext cx="11732455" cy="6443003"/>
          </a:xfrm>
        </p:spPr>
        <p:txBody>
          <a:bodyPr>
            <a:normAutofit/>
          </a:bodyPr>
          <a:lstStyle/>
          <a:p>
            <a:r>
              <a:rPr lang="en-US" sz="4000" dirty="0"/>
              <a:t>Transfer Learning</a:t>
            </a:r>
            <a:br>
              <a:rPr lang="en-US" sz="4000" dirty="0"/>
            </a:br>
            <a:br>
              <a:rPr lang="en-US" sz="4000" dirty="0"/>
            </a:br>
            <a:r>
              <a:rPr lang="en-US" sz="4000" dirty="0" err="1"/>
              <a:t>i</a:t>
            </a:r>
            <a:r>
              <a:rPr lang="en-US" sz="4000" dirty="0"/>
              <a:t>. Downloading Yolov3 weight file</a:t>
            </a:r>
            <a:br>
              <a:rPr lang="en-US" sz="4000" dirty="0"/>
            </a:br>
            <a:r>
              <a:rPr lang="en-US" sz="4000" dirty="0"/>
              <a:t>ii Downloading Yolov3 </a:t>
            </a:r>
            <a:r>
              <a:rPr lang="en-US" sz="4000" dirty="0" err="1"/>
              <a:t>cfg</a:t>
            </a:r>
            <a:r>
              <a:rPr lang="en-US" sz="4000" dirty="0"/>
              <a:t> file</a:t>
            </a:r>
            <a:br>
              <a:rPr lang="en-US" sz="4000" dirty="0"/>
            </a:br>
            <a:r>
              <a:rPr lang="en-US" sz="4000" dirty="0"/>
              <a:t>iii Downloading coco 80 dataset name file</a:t>
            </a:r>
            <a:br>
              <a:rPr lang="en-US" sz="4000" dirty="0"/>
            </a:br>
            <a:r>
              <a:rPr lang="en-US" sz="4000" dirty="0"/>
              <a:t>iv. Installing OpenCV</a:t>
            </a:r>
            <a:endParaRPr lang="en-GB" sz="4000" dirty="0"/>
          </a:p>
        </p:txBody>
      </p:sp>
      <p:pic>
        <p:nvPicPr>
          <p:cNvPr id="4" name="Picture 3">
            <a:extLst>
              <a:ext uri="{FF2B5EF4-FFF2-40B4-BE49-F238E27FC236}">
                <a16:creationId xmlns:a16="http://schemas.microsoft.com/office/drawing/2014/main" id="{78184345-857C-4128-B587-927DFB3D6127}"/>
              </a:ext>
            </a:extLst>
          </p:cNvPr>
          <p:cNvPicPr>
            <a:picLocks noChangeAspect="1"/>
          </p:cNvPicPr>
          <p:nvPr/>
        </p:nvPicPr>
        <p:blipFill>
          <a:blip r:embed="rId2"/>
          <a:stretch>
            <a:fillRect/>
          </a:stretch>
        </p:blipFill>
        <p:spPr>
          <a:xfrm>
            <a:off x="5679843" y="3835694"/>
            <a:ext cx="5108891" cy="2225233"/>
          </a:xfrm>
          <a:prstGeom prst="rect">
            <a:avLst/>
          </a:prstGeom>
        </p:spPr>
      </p:pic>
    </p:spTree>
    <p:extLst>
      <p:ext uri="{BB962C8B-B14F-4D97-AF65-F5344CB8AC3E}">
        <p14:creationId xmlns:p14="http://schemas.microsoft.com/office/powerpoint/2010/main" val="1356403987"/>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docProps/app.xml><?xml version="1.0" encoding="utf-8"?>
<Properties xmlns="http://schemas.openxmlformats.org/officeDocument/2006/extended-properties" xmlns:vt="http://schemas.openxmlformats.org/officeDocument/2006/docPropsVTypes">
  <TotalTime>0</TotalTime>
  <Words>436</Words>
  <Application>Microsoft Macintosh PowerPoint</Application>
  <PresentationFormat>Widescreen</PresentationFormat>
  <Paragraphs>16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Avenir Next LT Pro</vt:lpstr>
      <vt:lpstr>Calibri</vt:lpstr>
      <vt:lpstr>3DFloatVTI</vt:lpstr>
      <vt:lpstr>Object Recognition and Classification of Video Data</vt:lpstr>
      <vt:lpstr>What is Object Recognition? Object recognition is a computer technology that uses computer vision and image processing used to detect objects in images and videos. The technology behind Object recognition is called the “Artificial Intelligence”</vt:lpstr>
      <vt:lpstr>  Architecture of Object        Recogntion</vt:lpstr>
      <vt:lpstr> Object recognition industrial          applications i. Security Surveillance Industry ii. Traffic Tracking systems iii. Advertising iv. Self-driving cars v. Activity Recognition vi. Face Recognition on phones</vt:lpstr>
      <vt:lpstr>  Convolutional Neural Network These are special network that are specialized for image and video recognition, recommender systems and natural language processing (Handwriting recognition and speech recognition)  The main applications for CNN are as follows; i. Object detection and Recognition  ii. Segmentation iii. Scene Classification </vt:lpstr>
      <vt:lpstr>  YoloV3 CNN PRETRAINED MODEL This model “You only look once” (Yolo) is a deep learning algorithm which came out in May 2016 and it is so fast compared with the other deep learning object detection models.          www.pjreddie.com/darknet/yolo</vt:lpstr>
      <vt:lpstr>In this project I used ; i. Yolov3 pretrained model ii. OpenCV (Open Source Computer Vision library)  Yolo applies neural networks to the entire image to predict bounding boxes and their probabilities compared to other models which only applies their network to only high scoring regions on an image. It also scans images once to make predictions, so it makes it about four times faster in practice than other models.</vt:lpstr>
      <vt:lpstr>What can Yolo be applied to; i. Image file ii. Real-time video stream(Webcam) iii. Presaved Video file.  It can detect up to 80 objects, it has been pretrained to identify the 80 class labels of the coco dataset. i. Person iii. Car   v…….. ii. Bicycle iv. Motorbike</vt:lpstr>
      <vt:lpstr>Transfer Learning  i. Downloading Yolov3 weight file ii Downloading Yolov3 cfg file iii Downloading coco 80 dataset name file iv. Installing OpenCV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Recognition and Classification of Video Data</dc:title>
  <dc:creator>tezzyray937 tezzyray937</dc:creator>
  <cp:lastModifiedBy>Alabi,Olakunle T</cp:lastModifiedBy>
  <cp:revision>19</cp:revision>
  <dcterms:created xsi:type="dcterms:W3CDTF">2021-01-14T21:12:48Z</dcterms:created>
  <dcterms:modified xsi:type="dcterms:W3CDTF">2025-12-15T21:57:38Z</dcterms:modified>
</cp:coreProperties>
</file>